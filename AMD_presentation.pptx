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0"/>
    <p:sldId id="257" r:id="rId101"/>
    <p:sldId id="258" r:id="rId102"/>
    <p:sldId id="259" r:id="rId103"/>
    <p:sldId id="260" r:id="rId104"/>
    <p:sldId id="261" r:id="rId105"/>
    <p:sldId id="262" r:id="rId106"/>
    <p:sldId id="263" r:id="rId107"/>
    <p:sldId id="264" r:id="rId108"/>
    <p:sldId id="265" r:id="rId109"/>
    <p:sldId id="266" r:id="rId110"/>
    <p:sldId id="267" r:id="rId111"/>
  </p:sldIdLst>
  <p:sldSz cx="12192000" cy="6858000"/>
  <p:notesSz cx="12192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100" Type="http://schemas.openxmlformats.org/officeDocument/2006/relationships/slide" Target="slides/slide1.xml"/>
  <Relationship Id="rId101" Type="http://schemas.openxmlformats.org/officeDocument/2006/relationships/slide" Target="slides/slide2.xml"/>
  <Relationship Id="rId102" Type="http://schemas.openxmlformats.org/officeDocument/2006/relationships/slide" Target="slides/slide3.xml"/>
  <Relationship Id="rId103" Type="http://schemas.openxmlformats.org/officeDocument/2006/relationships/slide" Target="slides/slide4.xml"/>
  <Relationship Id="rId104" Type="http://schemas.openxmlformats.org/officeDocument/2006/relationships/slide" Target="slides/slide5.xml"/>
  <Relationship Id="rId105" Type="http://schemas.openxmlformats.org/officeDocument/2006/relationships/slide" Target="slides/slide6.xml"/>
  <Relationship Id="rId106" Type="http://schemas.openxmlformats.org/officeDocument/2006/relationships/slide" Target="slides/slide7.xml"/>
  <Relationship Id="rId107" Type="http://schemas.openxmlformats.org/officeDocument/2006/relationships/slide" Target="slides/slide8.xml"/>
  <Relationship Id="rId108" Type="http://schemas.openxmlformats.org/officeDocument/2006/relationships/slide" Target="slides/slide9.xml"/>
  <Relationship Id="rId109" Type="http://schemas.openxmlformats.org/officeDocument/2006/relationships/slide" Target="slides/slide10.xml"/>
  <Relationship Id="rId110" Type="http://schemas.openxmlformats.org/officeDocument/2006/relationships/slide" Target="slides/slide11.xml"/>
  <Relationship Id="rId111" Type="http://schemas.openxmlformats.org/officeDocument/2006/relationships/slide" Target="slides/slide12.xml"/>
  <Relationship Id="rId99" Type="http://schemas.openxmlformats.org/officeDocument/2006/relationships/theme" Target="theme/theme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sldLayoutIdLst>
    <p:sldLayoutId id="2147483649" r:id="rId1"/>
    <p:sldLayoutId id="2147483650" r:id="rId2"/>
  </p:sldLayoutIdLst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bg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1" name="mainTitle"/>
          <p:cNvSpPr>
            <a:spLocks noGrp="1"/>
          </p:cNvSpPr>
          <p:nvPr/>
        </p:nvSpPr>
        <p:spPr>
          <a:xfrm>
            <a:off x="914400" y="1500000"/>
            <a:ext cx="10363200" cy="2500000"/>
          </a:xfrm>
          <a:prstGeom prst="rect">
            <a:avLst/>
          </a:prstGeom>
        </p:spPr>
        <p:txBody>
          <a:bodyPr wrap="square" rtlCol="0"/>
          <a:lstStyle/>
          <a:p>
            <a:pPr algn="center">
              <a:spcBef>
                <a:spcPts val="000"/>
              </a:spcBef>
            </a:pPr>
            <a:r>
              <a:rPr lang="zh-CN" sz="3600" b="1">
                <a:solidFill>
                  <a:srgbClr val="FFFFFF"/>
                </a:solidFill>
              </a:rPr>
              <a:t>Single-cell transcriptome atlas</a:t>
            </a:r>
            <a:endParaRPr lang="zh-CN"/>
          </a:p>
          <a:p>
            <a:pPr algn="center">
              <a:spcBef>
                <a:spcPts val="10000"/>
              </a:spcBef>
            </a:pPr>
            <a:r>
              <a:rPr lang="zh-CN" sz="3600" b="1">
                <a:solidFill>
                  <a:srgbClr val="FFFFFF"/>
                </a:solidFill>
              </a:rPr>
              <a:t>of spontaneous dry age-related</a:t>
            </a:r>
            <a:endParaRPr lang="zh-CN"/>
          </a:p>
          <a:p>
            <a:pPr algn="center">
              <a:spcBef>
                <a:spcPts val="10000"/>
              </a:spcBef>
            </a:pPr>
            <a:r>
              <a:rPr lang="zh-CN" sz="3600" b="1">
                <a:solidFill>
                  <a:srgbClr val="FFFFFF"/>
                </a:solidFill>
              </a:rPr>
              <a:t>macular degeneration in macaques</a:t>
            </a:r>
            <a:endParaRPr lang="zh-CN"/>
          </a:p>
        </p:txBody>
      </p:sp>
      <p:sp>
        <p:nvSpPr>
          <p:cNvPr id="1" name="subtitle"/>
          <p:cNvSpPr>
            <a:spLocks noGrp="1"/>
          </p:cNvSpPr>
          <p:nvPr/>
        </p:nvSpPr>
        <p:spPr>
          <a:xfrm>
            <a:off x="914400" y="4200000"/>
            <a:ext cx="10363200" cy="1800000"/>
          </a:xfrm>
          <a:prstGeom prst="rect">
            <a:avLst/>
          </a:prstGeom>
        </p:spPr>
        <p:txBody>
          <a:bodyPr wrap="square" rtlCol="0"/>
          <a:lstStyle/>
          <a:p>
            <a:pPr algn="center">
              <a:spcBef>
                <a:spcPts val="000"/>
              </a:spcBef>
            </a:pPr>
            <a:r>
              <a:rPr lang="zh-CN" sz="2000">
                <a:solidFill>
                  <a:srgbClr val="B0C4DE"/>
                </a:solidFill>
              </a:rPr>
              <a:t>自发性干性年龄相关性黄斑变性食蟹猴的</a:t>
            </a:r>
            <a:endParaRPr lang="zh-CN"/>
          </a:p>
          <a:p>
            <a:pPr algn="center">
              <a:spcBef>
                <a:spcPts val="10000"/>
              </a:spcBef>
            </a:pPr>
            <a:r>
              <a:rPr lang="zh-CN" sz="2000">
                <a:solidFill>
                  <a:srgbClr val="B0C4DE"/>
                </a:solidFill>
              </a:rPr>
              <a:t>单细胞转录组图谱</a:t>
            </a:r>
            <a:endParaRPr lang="zh-CN"/>
          </a:p>
          <a:p>
            <a:pPr algn="center">
              <a:spcBef>
                <a:spcPts val="20000"/>
              </a:spcBef>
            </a:pPr>
            <a:r>
              <a:rPr lang="zh-CN" sz="800">
                <a:solidFill>
                  <a:srgbClr val="FFFFFF"/>
                </a:solidFill>
              </a:rPr>
              <a:t> </a:t>
            </a:r>
            <a:endParaRPr lang="zh-CN"/>
          </a:p>
          <a:p>
            <a:pPr algn="center">
              <a:spcBef>
                <a:spcPts val="10000"/>
              </a:spcBef>
            </a:pPr>
            <a:r>
              <a:rPr lang="zh-CN" sz="1400">
                <a:solidFill>
                  <a:srgbClr val="B0C4DE"/>
                </a:solidFill>
              </a:rPr>
              <a:t>Fundamental Research 5 (2025) 1034–1046</a:t>
            </a:r>
            <a:endParaRPr lang="zh-CN"/>
          </a:p>
          <a:p>
            <a:pPr algn="center">
              <a:spcBef>
                <a:spcPts val="10000"/>
              </a:spcBef>
            </a:pPr>
            <a:r>
              <a:rPr lang="zh-CN" sz="1400">
                <a:solidFill>
                  <a:srgbClr val="B0C4DE"/>
                </a:solidFill>
              </a:rPr>
              <a:t>通讯作者: Wenru Su  中山大学中山眼科中心</a:t>
            </a:r>
            <a:endParaRPr lang="zh-CN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bar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1" name="title"/>
          <p:cNvSpPr>
            <a:spLocks noGrp="1"/>
          </p:cNvSpPr>
          <p:nvPr/>
        </p:nvSpPr>
        <p:spPr>
          <a:xfrm>
            <a:off x="457200" y="150000"/>
            <a:ext cx="11277600" cy="600000"/>
          </a:xfrm>
          <a:prstGeom prst="rect">
            <a:avLst/>
          </a:prstGeom>
        </p:spPr>
        <p:txBody>
          <a:bodyPr wrap="square" rtlCol="0"/>
          <a:lstStyle/>
          <a:p>
            <a:pPr algn="left">
              <a:spcBef>
                <a:spcPts val="000"/>
              </a:spcBef>
            </a:pPr>
            <a:r>
              <a:rPr lang="zh-CN" sz="2800" b="1">
                <a:solidFill>
                  <a:srgbClr val="FFFFFF"/>
                </a:solidFill>
              </a:rPr>
              <a:t>研究背景 (Background)</a:t>
            </a:r>
            <a:endParaRPr lang="zh-CN"/>
          </a:p>
        </p:txBody>
      </p:sp>
      <p:sp>
        <p:nvSpPr>
          <p:cNvPr id="1" name="bg1"/>
          <p:cNvSpPr>
            <a:spLocks noGrp="1"/>
          </p:cNvSpPr>
          <p:nvPr/>
        </p:nvSpPr>
        <p:spPr>
          <a:xfrm>
            <a:off x="457200" y="1100000"/>
            <a:ext cx="11277600" cy="5200000"/>
          </a:xfrm>
          <a:prstGeom prst="rect">
            <a:avLst/>
          </a:prstGeom>
        </p:spPr>
        <p:txBody>
          <a:bodyPr wrap="square" rtlCol="0"/>
          <a:lstStyle/>
          <a:p>
            <a:pPr algn="left">
              <a:spcBef>
                <a:spcPts val="000"/>
              </a:spcBef>
            </a:pPr>
            <a:r>
              <a:rPr lang="zh-CN" sz="1300">
                <a:solidFill>
                  <a:srgbClr val="2980B9"/>
                </a:solidFill>
              </a:rPr>
              <a:t>• </a:t>
            </a:r>
            <a:r>
              <a:rPr lang="zh-CN" sz="1500" b="1">
                <a:solidFill>
                  <a:srgbClr val="2980B9"/>
                </a:solidFill>
              </a:rPr>
              <a:t>年龄相关性黄斑变性 (AMD)</a:t>
            </a:r>
            <a:r>
              <a:rPr lang="zh-CN" sz="1500">
                <a:solidFill>
                  <a:srgbClr val="2D3436"/>
                </a:solidFill>
              </a:rPr>
              <a:t> 是老年人不可逆致盲的首要原因</a:t>
            </a:r>
            <a:endParaRPr lang="zh-CN"/>
          </a:p>
          <a:p>
            <a:pPr algn="left">
              <a:spcBef>
                <a:spcPts val="25000"/>
              </a:spcBef>
            </a:pPr>
            <a:r>
              <a:rPr lang="zh-CN" sz="1300">
                <a:solidFill>
                  <a:srgbClr val="2980B9"/>
                </a:solidFill>
              </a:rPr>
              <a:t>• </a:t>
            </a:r>
            <a:r>
              <a:rPr lang="zh-CN" sz="1500" b="1">
                <a:solidFill>
                  <a:srgbClr val="2980B9"/>
                </a:solidFill>
              </a:rPr>
              <a:t>干性 AMD </a:t>
            </a:r>
            <a:r>
              <a:rPr lang="zh-CN" sz="1500">
                <a:solidFill>
                  <a:srgbClr val="2D3436"/>
                </a:solidFill>
              </a:rPr>
              <a:t>占 AMD 病例的 85-90%，目前无有效治疗药物</a:t>
            </a:r>
            <a:endParaRPr lang="zh-CN"/>
          </a:p>
          <a:p>
            <a:pPr algn="left">
              <a:spcBef>
                <a:spcPts val="25000"/>
              </a:spcBef>
            </a:pPr>
            <a:r>
              <a:rPr lang="zh-CN" sz="1300">
                <a:solidFill>
                  <a:srgbClr val="2980B9"/>
                </a:solidFill>
              </a:rPr>
              <a:t>• </a:t>
            </a:r>
            <a:r>
              <a:rPr lang="zh-CN" sz="1500">
                <a:solidFill>
                  <a:srgbClr val="2D3436"/>
                </a:solidFill>
              </a:rPr>
              <a:t>AMD 的主要病理特征：玻璃膜疣 (drusen)、RPE 异常、光感受器退化</a:t>
            </a:r>
            <a:endParaRPr lang="zh-CN"/>
          </a:p>
          <a:p>
            <a:pPr algn="left">
              <a:spcBef>
                <a:spcPts val="25000"/>
              </a:spcBef>
            </a:pPr>
            <a:r>
              <a:rPr lang="zh-CN" sz="1300">
                <a:solidFill>
                  <a:srgbClr val="2980B9"/>
                </a:solidFill>
              </a:rPr>
              <a:t>• </a:t>
            </a:r>
            <a:r>
              <a:rPr lang="zh-CN" sz="1500" b="1">
                <a:solidFill>
                  <a:srgbClr val="2980B9"/>
                </a:solidFill>
              </a:rPr>
              <a:t>非人灵长类 (NHP)</a:t>
            </a:r>
            <a:r>
              <a:rPr lang="zh-CN" sz="1500">
                <a:solidFill>
                  <a:srgbClr val="2D3436"/>
                </a:solidFill>
              </a:rPr>
              <a:t> 视网膜结构与人类高度相似，是理想模型</a:t>
            </a:r>
            <a:endParaRPr lang="zh-CN"/>
          </a:p>
          <a:p>
            <a:pPr algn="left">
              <a:spcBef>
                <a:spcPts val="25000"/>
              </a:spcBef>
            </a:pPr>
            <a:r>
              <a:rPr lang="zh-CN" sz="1300">
                <a:solidFill>
                  <a:srgbClr val="2980B9"/>
                </a:solidFill>
              </a:rPr>
              <a:t>• </a:t>
            </a:r>
            <a:r>
              <a:rPr lang="zh-CN" sz="1500" b="1">
                <a:solidFill>
                  <a:srgbClr val="2980B9"/>
                </a:solidFill>
              </a:rPr>
              <a:t>单细胞 RNA 测序</a:t>
            </a:r>
            <a:r>
              <a:rPr lang="zh-CN" sz="1500">
                <a:solidFill>
                  <a:srgbClr val="2D3436"/>
                </a:solidFill>
              </a:rPr>
              <a:t> 技术可在单细胞分辨率下揭示疾病机制</a:t>
            </a:r>
            <a:endParaRPr lang="zh-CN"/>
          </a:p>
          <a:p>
            <a:pPr algn="left">
              <a:spcBef>
                <a:spcPts val="25000"/>
              </a:spcBef>
            </a:pPr>
            <a:r>
              <a:rPr lang="zh-CN" sz="1300">
                <a:solidFill>
                  <a:srgbClr val="2980B9"/>
                </a:solidFill>
              </a:rPr>
              <a:t>• </a:t>
            </a:r>
            <a:r>
              <a:rPr lang="zh-CN" sz="1500">
                <a:solidFill>
                  <a:srgbClr val="2D3436"/>
                </a:solidFill>
              </a:rPr>
              <a:t>此前缺乏 NHP 干性 AMD 的单细胞转录组图谱</a:t>
            </a:r>
            <a:endParaRPr lang="zh-CN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bar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1" name="title"/>
          <p:cNvSpPr>
            <a:spLocks noGrp="1"/>
          </p:cNvSpPr>
          <p:nvPr/>
        </p:nvSpPr>
        <p:spPr>
          <a:xfrm>
            <a:off x="457200" y="150000"/>
            <a:ext cx="11277600" cy="600000"/>
          </a:xfrm>
          <a:prstGeom prst="rect">
            <a:avLst/>
          </a:prstGeom>
        </p:spPr>
        <p:txBody>
          <a:bodyPr wrap="square" rtlCol="0"/>
          <a:lstStyle/>
          <a:p>
            <a:pPr algn="left">
              <a:spcBef>
                <a:spcPts val="000"/>
              </a:spcBef>
            </a:pPr>
            <a:r>
              <a:rPr lang="zh-CN" sz="2800" b="1">
                <a:solidFill>
                  <a:srgbClr val="FFFFFF"/>
                </a:solidFill>
              </a:rPr>
              <a:t>研究目的与实验设计 (Study Design)</a:t>
            </a:r>
            <a:endParaRPr lang="zh-CN"/>
          </a:p>
        </p:txBody>
      </p:sp>
      <p:sp>
        <p:nvSpPr>
          <p:cNvPr id="1" name="bg"/>
          <p:cNvSpPr>
            <a:spLocks noGrp="1"/>
          </p:cNvSpPr>
          <p:nvPr/>
        </p:nvSpPr>
        <p:spPr>
          <a:xfrm>
            <a:off x="457200" y="1050000"/>
            <a:ext cx="5638800" cy="3500000"/>
          </a:xfrm>
          <a:prstGeom prst="rect">
            <a:avLst/>
          </a:prstGeom>
        </p:spPr>
        <p:txBody>
          <a:bodyPr wrap="square" rtlCol="0"/>
          <a:lstStyle/>
          <a:p>
            <a:pPr algn="left">
              <a:spcBef>
                <a:spcPts val="000"/>
              </a:spcBef>
            </a:pPr>
            <a:r>
              <a:rPr lang="zh-CN" sz="1400" b="1">
                <a:solidFill>
                  <a:srgbClr val="2980B9"/>
                </a:solidFill>
              </a:rPr>
              <a:t>研究目标</a:t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400">
                <a:solidFill>
                  <a:srgbClr val="2D3436"/>
                </a:solidFill>
              </a:rPr>
              <a:t>构建自发性干性 AMD 食蟹猴</a:t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400">
                <a:solidFill>
                  <a:srgbClr val="2D3436"/>
                </a:solidFill>
              </a:rPr>
              <a:t>视网膜单细胞转录组图谱</a:t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400">
                <a:solidFill>
                  <a:srgbClr val="2D3436"/>
                </a:solidFill>
              </a:rPr>
              <a:t/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400">
                <a:solidFill>
                  <a:srgbClr val="2D3436"/>
                </a:solidFill>
              </a:rPr>
              <a:t>揭示细胞类型特异性的</a:t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400">
                <a:solidFill>
                  <a:srgbClr val="2D3436"/>
                </a:solidFill>
              </a:rPr>
              <a:t>转录组改变及其发病机制</a:t>
            </a:r>
            <a:endParaRPr lang="zh-CN"/>
          </a:p>
        </p:txBody>
      </p:sp>
      <p:sp>
        <p:nvSpPr>
          <p:cNvPr id="1" name="bg2"/>
          <p:cNvSpPr>
            <a:spLocks noGrp="1"/>
          </p:cNvSpPr>
          <p:nvPr/>
        </p:nvSpPr>
        <p:spPr>
          <a:xfrm>
            <a:off x="6096000" y="1050000"/>
            <a:ext cx="5638800" cy="5000000"/>
          </a:xfrm>
          <a:prstGeom prst="rect">
            <a:avLst/>
          </a:prstGeom>
        </p:spPr>
        <p:txBody>
          <a:bodyPr wrap="square" rtlCol="0"/>
          <a:lstStyle/>
          <a:p>
            <a:pPr algn="left">
              <a:spcBef>
                <a:spcPts val="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 b="1">
                <a:solidFill>
                  <a:srgbClr val="2980B9"/>
                </a:solidFill>
              </a:rPr>
              <a:t>实验设计</a:t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 b="1">
                <a:solidFill>
                  <a:srgbClr val="2980B9"/>
                </a:solidFill>
              </a:rPr>
              <a:t>&gt;600</a:t>
            </a:r>
            <a:r>
              <a:rPr lang="zh-CN" sz="1400">
                <a:solidFill>
                  <a:srgbClr val="2D3436"/>
                </a:solidFill>
              </a:rPr>
              <a:t> 只食蟹猴眼科筛查</a:t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 b="1">
                <a:solidFill>
                  <a:srgbClr val="2980B9"/>
                </a:solidFill>
              </a:rPr>
              <a:t>6</a:t>
            </a:r>
            <a:r>
              <a:rPr lang="zh-CN" sz="1400">
                <a:solidFill>
                  <a:srgbClr val="2D3436"/>
                </a:solidFill>
              </a:rPr>
              <a:t> 只自发性干性 AMD (雌性, 19-22岁)</a:t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 b="1">
                <a:solidFill>
                  <a:srgbClr val="2980B9"/>
                </a:solidFill>
              </a:rPr>
              <a:t>4</a:t>
            </a:r>
            <a:r>
              <a:rPr lang="zh-CN" sz="1400">
                <a:solidFill>
                  <a:srgbClr val="2D3436"/>
                </a:solidFill>
              </a:rPr>
              <a:t> 只健康老龄对照</a:t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>
                <a:solidFill>
                  <a:srgbClr val="2D3436"/>
                </a:solidFill>
              </a:rPr>
              <a:t>视网膜组织 scRNA-seq</a:t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>
                <a:solidFill>
                  <a:srgbClr val="2D3436"/>
                </a:solidFill>
              </a:rPr>
              <a:t>(10X Genomics 平台)</a:t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 b="1">
                <a:solidFill>
                  <a:srgbClr val="2980B9"/>
                </a:solidFill>
              </a:rPr>
              <a:t>~30,000</a:t>
            </a:r>
            <a:r>
              <a:rPr lang="zh-CN" sz="1400">
                <a:solidFill>
                  <a:srgbClr val="2D3436"/>
                </a:solidFill>
              </a:rPr>
              <a:t> 高质量视网膜细胞</a:t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>
                <a:solidFill>
                  <a:srgbClr val="2D3436"/>
                </a:solidFill>
              </a:rPr>
              <a:t>鉴定 9 种细胞类型</a:t>
            </a:r>
            <a:endParaRPr lang="zh-CN"/>
          </a:p>
        </p:txBody>
      </p:sp>
    </p:spTree>
  </p:cSld>
</p:sld>
</file>

<file path=ppt/slides/slide4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12192000" cy="6858000"/><a:chOff x="0" y="0"/><a:chExt cx="12192000" cy="6858000"/></a:xfrm></p:grpSpPr>
      <p:sp><p:nvSpPr><p:cNvPr id="1" name="bar"/><p:cNvSpPr><a:spLocks noGrp="1"/></p:cNvSpPr><p:nvPr/></p:nvSpPr><p:spPr><a:xfrm><a:off x="0" y="0"/><a:ext cx="12192000" cy="900000"/></a:xfrm><a:prstGeom prst="rect"><a:avLst/></a:prstGeom><a:solidFill><a:srgbClr val="1F4E79"/></a:solidFill></p:spPr></p:sp>
      <p:sp><p:nvSpPr><p:cNvPr id="1" name="title"/><p:cNvSpPr><a:spLocks noGrp="1"/></p:cNvSpPr><p:nvPr/></p:nvSpPr><p:spPr><a:xfrm><a:off x="457200" y="150000"/><a:ext cx="11277600" cy="600000"/></a:xfrm><a:prstGeom prst="rect"><a:avLst/></a:prstGeom></p:spPr><p:txBody><a:bodyPr wrap="square" rtlCol="0"/><a:lstStyle/><a:p><a:pPr algn="left"><a:spcBef><a:spcPts val="000"/></a:spcBef></a:pPr><a:r><a:rPr lang="zh-CN" sz="2800" b="1"><a:solidFill><a:srgbClr val="FFFFFF"/></a:solidFill></a:rPr><a:t>实验方法 (Methods)</a:t></a:r><a:endParaRPr lang="zh-CN"/></a:p></p:txBody></p:sp>
      <p:sp><p:nvSpPr><p:cNvPr id="1" name="left"/><p:cNvSpPr><a:spLocks noGrp="1"/></p:cNvSpPr><p:nvPr/></p:nvSpPr><p:spPr><a:xfrm><a:off x="457200" y="1050000"/><a:ext cx="5638800" cy="5000000"/></a:xfrm><a:prstGeom prst="rect"><a:avLst/></a:prstGeom></p:spPr><p:txBody><a:bodyPr wrap="square" rtlCol="0"/><a:lstStyle/><a:p><a:pPr algn="left"><a:spcBef><a:spcPts val="000"/></a:spcBef></a:pPr><a:r><a:rPr lang="zh-CN" sz="1100"><a:solidFill><a:srgbClr val="2980B9"/></a:solidFill></a:rPr><a:t>• </a:t></a:r><a:r><a:rPr lang="zh-CN" sz="1300" b="1"><a:solidFill><a:srgbClr val="2980B9"/></a:solidFill></a:rPr><a:t>动物模型筛选</a:t></a:r><a:endParaRPr lang="zh-CN"/></a:p><a:p><a:pPr algn="left"><a:spcBef><a:spcPts val="15000"/></a:spcBef></a:pPr><a:r><a:rPr lang="zh-CN" sz="1100"><a:solidFill><a:srgbClr val="2980B9"/></a:solidFill></a:rPr><a:t>• </a:t></a:r><a:r><a:rPr lang="zh-CN" sz="1300"><a:solidFill><a:srgbClr val="2D3436"/></a:solidFill></a:rPr><a:t>• 眼压、裂隙灯、眼底照相、OCT</a:t></a:r><a:endParaRPr lang="zh-CN"/></a:p><a:p><a:pPr algn="left"><a:spcBef><a:spcPts val="15000"/></a:spcBef></a:pPr><a:r><a:rPr lang="zh-CN" sz="1100"><a:solidFill><a:srgbClr val="2980B9"/></a:solidFill></a:rPr><a:t>• </a:t></a:r><a:r><a:rPr lang="zh-CN" sz="1300"><a:solidFill><a:srgbClr val="2D3436"/></a:solidFill></a:rPr><a:t>• 黄斑区 drusen 为纳入标准</a:t></a:r><a:endParaRPr lang="zh-CN"/></a:p><a:p><a:pPr algn="left"><a:spcBef><a:spcPts val="15000"/></a:spcBef></a:pPr><a:r><a:rPr lang="zh-CN" sz="1100"><a:solidFill><a:srgbClr val="2980B9"/></a:solidFill></a:rPr><a:t>• </a:t></a:r><a:r><a:rPr lang="zh-CN" sz="1300"><a:solidFill><a:srgbClr val="2D3436"/></a:solidFill></a:rPr><a:t></a:t></a:r><a:endParaRPr lang="zh-CN"/></a:p><a:p><a:pPr algn="left"><a:spcBef><a:spcPts val="15000"/></a:spcBef></a:pPr><a:r><a:rPr lang="zh-CN" sz="1100"><a:solidFill><a:srgbClr val="2980B9"/></a:solidFill></a:rPr><a:t>• </a:t></a:r><a:r><a:rPr lang="zh-CN" sz="1300" b="1"><a:solidFill><a:srgbClr val="2980B9"/></a:solidFill></a:rPr><a:t>单细胞分离与建库</a:t></a:r><a:endParaRPr lang="zh-CN"/></a:p><a:p><a:pPr algn="left"><a:spcBef><a:spcPts val="15000"/></a:spcBef></a:pPr><a:r><a:rPr lang="zh-CN" sz="1100"><a:solidFill><a:srgbClr val="2980B9"/></a:solidFill></a:rPr><a:t>• </a:t></a:r><a:r><a:rPr lang="zh-CN" sz="1300"><a:solidFill><a:srgbClr val="2D3436"/></a:solidFill></a:rPr><a:t>• Papain 酶消化视网膜组织</a:t></a:r><a:endParaRPr lang="zh-CN"/></a:p><a:p><a:pPr algn="left"><a:spcBef><a:spcPts val="15000"/></a:spcBef></a:pPr><a:r><a:rPr lang="zh-CN" sz="1100"><a:solidFill><a:srgbClr val="2980B9"/></a:solidFill></a:rPr><a:t>• </a:t></a:r><a:r><a:rPr lang="zh-CN" sz="1300"><a:solidFill><a:srgbClr val="2D3436"/></a:solidFill></a:rPr><a:t>• 10X Single Cell 3' v3 试剂盒</a:t></a:r><a:endParaRPr lang="zh-CN"/></a:p><a:p><a:pPr algn="left"><a:spcBef><a:spcPts val="15000"/></a:spcBef></a:pPr><a:r><a:rPr lang="zh-CN" sz="1100"><a:solidFill><a:srgbClr val="2980B9"/></a:solidFill></a:rPr><a:t>• </a:t></a:r><a:r><a:rPr lang="zh-CN" sz="1300"><a:solidFill><a:srgbClr val="2D3436"/></a:solidFill></a:rPr><a:t>• 每样本目标 10,000 细胞</a:t></a:r><a:endParaRPr lang="zh-CN"/></a:p></p:txBody></p:sp>
      <p:sp><p:nvSpPr><p:cNvPr id="1" name="right"/><p:cNvSpPr><a:spLocks noGrp="1"/></p:cNvSpPr><p:nvPr/></p:nvSpPr><p:spPr><a:xfrm><a:off x="6096000" y="1050000"/><a:ext cx="5638800" cy="5000000"/></a:xfrm><a:prstGeom prst="rect"><a:avLst/></a:prstGeom></p:spPr><p:txBody><a:bodyPr wrap="square" rtlCol="0"/><a:lstStyle/><a:p><a:pPr algn="left"><a:spcBef><a:spcPts val="000"/></a:spcBef></a:pPr><a:r><a:rPr lang="zh-CN" sz="1100"><a:solidFill><a:srgbClr val="2980B9"/></a:solidFill></a:rPr><a:t>• </a:t></a:r><a:r><a:rPr lang="zh-CN" sz="1300" b="1"><a:solidFill><a:srgbClr val="2980B9"/></a:solidFill></a:rPr><a:t>数据分析</a:t></a:r><a:endParaRPr lang="zh-CN"/></a:p><a:p><a:pPr algn="left"><a:spcBef><a:spcPts val="15000"/></a:spcBef></a:pPr><a:r><a:rPr lang="zh-CN" sz="1100"><a:solidFill><a:srgbClr val="2980B9"/></a:solidFill></a:rPr><a:t>• </a:t></a:r><a:r><a:rPr lang="zh-CN" sz="1300"><a:solidFill><a:srgbClr val="2D3436"/></a:solidFill></a:rPr><a:t>• 无监督聚类 + DEG 分析</a:t></a:r><a:endParaRPr lang="zh-CN"/></a:p><a:p><a:pPr algn="left"><a:spcBef><a:spcPts val="15000"/></a:spcBef></a:pPr><a:r><a:rPr lang="zh-CN" sz="1100"><a:solidFill><a:srgbClr val="2980B9"/></a:solidFill></a:rPr><a:t>• </a:t></a:r><a:r><a:rPr lang="zh-CN" sz="1300"><a:solidFill><a:srgbClr val="2D3436"/></a:solidFill></a:rPr><a:t>• CellPhoneDB 细胞间通讯</a:t></a:r><a:endParaRPr lang="zh-CN"/></a:p><a:p><a:pPr algn="left"><a:spcBef><a:spcPts val="15000"/></a:spcBef></a:pPr><a:r><a:rPr lang="zh-CN" sz="1100"><a:solidFill><a:srgbClr val="2980B9"/></a:solidFill></a:rPr><a:t>• </a:t></a:r><a:r><a:rPr lang="zh-CN" sz="1300"><a:solidFill><a:srgbClr val="2D3436"/></a:solidFill></a:rPr><a:t>• SASP 衰老分泌表型评分</a:t></a:r><a:endParaRPr lang="zh-CN"/></a:p><a:p><a:pPr algn="left"><a:spcBef><a:spcPts val="15000"/></a:spcBef></a:pPr><a:r><a:rPr lang="zh-CN" sz="1100"><a:solidFill><a:srgbClr val="2980B9"/></a:solidFill></a:rPr><a:t>• </a:t></a:r><a:r><a:rPr lang="zh-CN" sz="1300"><a:solidFill><a:srgbClr val="2D3436"/></a:solidFill></a:rPr><a:t>• GO 功能富集分析</a:t></a:r><a:endParaRPr lang="zh-CN"/></a:p><a:p><a:pPr algn="left"><a:spcBef><a:spcPts val="15000"/></a:spcBef></a:pPr><a:r><a:rPr lang="zh-CN" sz="1100"><a:solidFill><a:srgbClr val="2980B9"/></a:solidFill></a:rPr><a:t>• </a:t></a:r><a:r><a:rPr lang="zh-CN" sz="1300"><a:solidFill><a:srgbClr val="2D3436"/></a:solidFill></a:rPr><a:t></a:t></a:r><a:endParaRPr lang="zh-CN"/></a:p><a:p><a:pPr algn="left"><a:spcBef><a:spcPts val="15000"/></a:spcBef></a:pPr><a:r><a:rPr lang="zh-CN" sz="1100"><a:solidFill><a:srgbClr val="2980B9"/></a:solidFill></a:rPr><a:t>• </a:t></a:r><a:r><a:rPr lang="zh-CN" sz="1300" b="1"><a:solidFill><a:srgbClr val="2980B9"/></a:solidFill></a:rPr><a:t>验证实验</a:t></a:r><a:endParaRPr lang="zh-CN"/></a:p><a:p><a:pPr algn="left"><a:spcBef><a:spcPts val="15000"/></a:spcBef></a:pPr><a:r><a:rPr lang="zh-CN" sz="1100"><a:solidFill><a:srgbClr val="2980B9"/></a:solidFill></a:rPr><a:t>• </a:t></a:r><a:r><a:rPr lang="zh-CN" sz="1300"><a:solidFill><a:srgbClr val="2D3436"/></a:solidFill></a:rPr><a:t>• NaIO₃ 诱导小鼠干性 AMD 模型</a:t></a:r><a:endParaRPr lang="zh-CN"/></a:p><a:p><a:pPr algn="left"><a:spcBef><a:spcPts val="15000"/></a:spcBef></a:pPr><a:r><a:rPr lang="zh-CN" sz="1100"><a:solidFill><a:srgbClr val="2980B9"/></a:solidFill></a:rPr><a:t>• </a:t></a:r><a:r><a:rPr lang="zh-CN" sz="1300"><a:solidFill><a:srgbClr val="2D3436"/></a:solidFill></a:rPr><a:t>• Fer-1 铁死亡抑制剂治疗</a:t></a:r><a:endParaRPr lang="zh-CN"/></a:p><a:p><a:pPr algn="left"><a:spcBef><a:spcPts val="15000"/></a:spcBef></a:pPr><a:r><a:rPr lang="zh-CN" sz="1100"><a:solidFill><a:srgbClr val="2980B9"/></a:solidFill></a:rPr><a:t>• </a:t></a:r><a:r><a:rPr lang="zh-CN" sz="1300"><a:solidFill><a:srgbClr val="2D3436"/></a:solidFill></a:rPr><a:t>• ERG 视网膜电图 + H&E 染色</a:t></a:r><a:endParaRPr lang="zh-CN"/></a:p></p:txBody>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bar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1" name="title"/>
          <p:cNvSpPr>
            <a:spLocks noGrp="1"/>
          </p:cNvSpPr>
          <p:nvPr/>
        </p:nvSpPr>
        <p:spPr>
          <a:xfrm>
            <a:off x="457200" y="150000"/>
            <a:ext cx="11277600" cy="600000"/>
          </a:xfrm>
          <a:prstGeom prst="rect">
            <a:avLst/>
          </a:prstGeom>
        </p:spPr>
        <p:txBody>
          <a:bodyPr wrap="square" rtlCol="0"/>
          <a:lstStyle/>
          <a:p>
            <a:pPr algn="left">
              <a:spcBef>
                <a:spcPts val="000"/>
              </a:spcBef>
            </a:pPr>
            <a:r>
              <a:rPr lang="zh-CN" sz="2800" b="1">
                <a:solidFill>
                  <a:srgbClr val="FFFFFF"/>
                </a:solidFill>
              </a:rPr>
              <a:t>视网膜 9 种细胞类型 (9 Retinal Cell Types)</a:t>
            </a:r>
            <a:endParaRPr lang="zh-CN"/>
          </a:p>
        </p:txBody>
      </p:sp>
      <p:sp>
        <p:nvSpPr>
          <p:cNvPr id="1" name="left"/>
          <p:cNvSpPr>
            <a:spLocks noGrp="1"/>
          </p:cNvSpPr>
          <p:nvPr/>
        </p:nvSpPr>
        <p:spPr>
          <a:xfrm>
            <a:off x="457200" y="1050000"/>
            <a:ext cx="5638800" cy="2500000"/>
          </a:xfrm>
          <a:prstGeom prst="rect">
            <a:avLst/>
          </a:prstGeom>
        </p:spPr>
        <p:txBody>
          <a:bodyPr wrap="square" rtlCol="0"/>
          <a:lstStyle/>
          <a:p>
            <a:pPr algn="left">
              <a:spcBef>
                <a:spcPts val="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 b="1">
                <a:solidFill>
                  <a:srgbClr val="2980B9"/>
                </a:solidFill>
              </a:rPr>
              <a:t>神经视网膜层</a:t>
            </a:r>
            <a:r>
              <a:rPr lang="zh-CN" sz="1300">
                <a:solidFill>
                  <a:srgbClr val="2D3436"/>
                </a:solidFill>
              </a:rPr>
              <a:t> (Neural Retina)</a:t>
            </a:r>
            <a:endParaRPr lang="zh-CN"/>
          </a:p>
          <a:p>
            <a:pPr algn="left">
              <a:spcBef>
                <a:spcPts val="15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① 视杆细胞 Rod cells</a:t>
            </a:r>
            <a:endParaRPr lang="zh-CN"/>
          </a:p>
          <a:p>
            <a:pPr algn="left">
              <a:spcBef>
                <a:spcPts val="15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② 视锥细胞 Cone cells</a:t>
            </a:r>
            <a:endParaRPr lang="zh-CN"/>
          </a:p>
          <a:p>
            <a:pPr algn="left">
              <a:spcBef>
                <a:spcPts val="15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③ 双极细胞 Bipolar cells (BCs)</a:t>
            </a:r>
            <a:endParaRPr lang="zh-CN"/>
          </a:p>
          <a:p>
            <a:pPr algn="left">
              <a:spcBef>
                <a:spcPts val="15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④ 无长突细胞 Amacrine cells (ACs)</a:t>
            </a:r>
            <a:endParaRPr lang="zh-CN"/>
          </a:p>
          <a:p>
            <a:pPr algn="left">
              <a:spcBef>
                <a:spcPts val="15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⑤ 水平细胞 Horizontal cells (HCs)</a:t>
            </a:r>
            <a:endParaRPr lang="zh-CN"/>
          </a:p>
          <a:p>
            <a:pPr algn="left">
              <a:spcBef>
                <a:spcPts val="15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⑥ 视网膜神经节细胞 RGCs</a:t>
            </a:r>
            <a:endParaRPr lang="zh-CN"/>
          </a:p>
          <a:p>
            <a:pPr algn="left">
              <a:spcBef>
                <a:spcPts val="15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⑦ Müller 胶质细胞</a:t>
            </a:r>
            <a:endParaRPr lang="zh-CN"/>
          </a:p>
          <a:p>
            <a:pPr algn="left">
              <a:spcBef>
                <a:spcPts val="15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⑧ 小胶质细胞 Microglia</a:t>
            </a:r>
            <a:endParaRPr lang="zh-CN"/>
          </a:p>
        </p:txBody>
      </p:sp>
      <p:sp>
        <p:nvSpPr>
          <p:cNvPr id="1" name="right"/>
          <p:cNvSpPr>
            <a:spLocks noGrp="1"/>
          </p:cNvSpPr>
          <p:nvPr/>
        </p:nvSpPr>
        <p:spPr>
          <a:xfrm>
            <a:off x="6096000" y="1050000"/>
            <a:ext cx="5638800" cy="2500000"/>
          </a:xfrm>
          <a:prstGeom prst="rect">
            <a:avLst/>
          </a:prstGeom>
        </p:spPr>
        <p:txBody>
          <a:bodyPr wrap="square" rtlCol="0"/>
          <a:lstStyle/>
          <a:p>
            <a:pPr algn="left">
              <a:spcBef>
                <a:spcPts val="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 b="1">
                <a:solidFill>
                  <a:srgbClr val="2980B9"/>
                </a:solidFill>
              </a:rPr>
              <a:t>脉络膜层</a:t>
            </a:r>
            <a:r>
              <a:rPr lang="zh-CN" sz="1300">
                <a:solidFill>
                  <a:srgbClr val="2D3436"/>
                </a:solidFill>
              </a:rPr>
              <a:t> (Choroid)</a:t>
            </a:r>
            <a:endParaRPr lang="zh-CN"/>
          </a:p>
          <a:p>
            <a:pPr algn="left">
              <a:spcBef>
                <a:spcPts val="16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⑨ 视网膜色素上皮 RPE cells</a:t>
            </a:r>
            <a:endParaRPr lang="zh-CN"/>
          </a:p>
          <a:p>
            <a:pPr algn="left">
              <a:spcBef>
                <a:spcPts val="16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/>
            </a:r>
            <a:endParaRPr lang="zh-CN"/>
          </a:p>
          <a:p>
            <a:pPr algn="left">
              <a:spcBef>
                <a:spcPts val="16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 b="1">
                <a:solidFill>
                  <a:srgbClr val="2980B9"/>
                </a:solidFill>
              </a:rPr>
              <a:t>关键发现</a:t>
            </a:r>
            <a:endParaRPr lang="zh-CN"/>
          </a:p>
          <a:p>
            <a:pPr algn="left">
              <a:spcBef>
                <a:spcPts val="16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SD-AMD 中视锥、视杆和</a:t>
            </a:r>
            <a:endParaRPr lang="zh-CN"/>
          </a:p>
          <a:p>
            <a:pPr algn="left">
              <a:spcBef>
                <a:spcPts val="16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RPE 细胞比例显著下降</a:t>
            </a:r>
            <a:endParaRPr lang="zh-CN"/>
          </a:p>
        </p:txBody>
      </p:sp>
      <p:sp>
        <p:nvSpPr>
          <p:cNvPr id="1" name="bottom"/>
          <p:cNvSpPr>
            <a:spLocks noGrp="1"/>
          </p:cNvSpPr>
          <p:nvPr/>
        </p:nvSpPr>
        <p:spPr>
          <a:xfrm>
            <a:off x="457200" y="3800000"/>
            <a:ext cx="11277600" cy="2700000"/>
          </a:xfrm>
          <a:prstGeom prst="rect">
            <a:avLst/>
          </a:prstGeom>
        </p:spPr>
        <p:txBody>
          <a:bodyPr wrap="square" rtlCol="0"/>
          <a:lstStyle/>
          <a:p>
            <a:pPr algn="left">
              <a:spcBef>
                <a:spcPts val="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 b="1">
                <a:solidFill>
                  <a:srgbClr val="2980B9"/>
                </a:solidFill>
              </a:rPr>
              <a:t>DEG 分布:</a:t>
            </a:r>
            <a:r>
              <a:rPr lang="zh-CN" sz="1300">
                <a:solidFill>
                  <a:srgbClr val="2D3436"/>
                </a:solidFill>
              </a:rPr>
              <a:t> BCs、视杆、Müller 胶质细胞上调基因最多；HCs、RGCs 下调基因较多</a:t>
            </a:r>
            <a:endParaRPr lang="zh-CN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bar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1" name="title"/>
          <p:cNvSpPr>
            <a:spLocks noGrp="1"/>
          </p:cNvSpPr>
          <p:nvPr/>
        </p:nvSpPr>
        <p:spPr>
          <a:xfrm>
            <a:off x="457200" y="150000"/>
            <a:ext cx="11277600" cy="600000"/>
          </a:xfrm>
          <a:prstGeom prst="rect">
            <a:avLst/>
          </a:prstGeom>
        </p:spPr>
        <p:txBody>
          <a:bodyPr wrap="square" rtlCol="0"/>
          <a:lstStyle/>
          <a:p>
            <a:pPr algn="left">
              <a:spcBef>
                <a:spcPts val="000"/>
              </a:spcBef>
            </a:pPr>
            <a:r>
              <a:rPr lang="zh-CN" sz="2800" b="1">
                <a:solidFill>
                  <a:srgbClr val="FFFFFF"/>
                </a:solidFill>
              </a:rPr>
              <a:t>主要结果概览 (Key Findings)</a:t>
            </a:r>
            <a:endParaRPr lang="zh-CN"/>
          </a:p>
        </p:txBody>
      </p:sp>
      <p:sp>
        <p:nvSpPr>
          <p:cNvPr id="1" name="f1"/>
          <p:cNvSpPr>
            <a:spLocks noGrp="1"/>
          </p:cNvSpPr>
          <p:nvPr/>
        </p:nvSpPr>
        <p:spPr>
          <a:xfrm>
            <a:off x="457200" y="1000000"/>
            <a:ext cx="11277600" cy="5500000"/>
          </a:xfrm>
          <a:prstGeom prst="rect">
            <a:avLst/>
          </a:prstGeom>
        </p:spPr>
        <p:txBody>
          <a:bodyPr wrap="square" rtlCol="0"/>
          <a:lstStyle/>
          <a:p>
            <a:pPr algn="left">
              <a:spcBef>
                <a:spcPts val="000"/>
              </a:spcBef>
            </a:pPr>
            <a:r>
              <a:rPr lang="zh-CN" sz="1300">
                <a:solidFill>
                  <a:srgbClr val="2980B9"/>
                </a:solidFill>
              </a:rPr>
              <a:t>• </a:t>
            </a:r>
            <a:r>
              <a:rPr lang="zh-CN" sz="1500" b="1">
                <a:solidFill>
                  <a:srgbClr val="2980B9"/>
                </a:solidFill>
              </a:rPr>
              <a:t>① Müller 胶质细胞</a:t>
            </a:r>
            <a:r>
              <a:rPr lang="zh-CN" sz="1500">
                <a:solidFill>
                  <a:srgbClr val="2D3436"/>
                </a:solidFill>
              </a:rPr>
              <a:t> — 发现 PR-like 亚型 (表达 RHO/GNAT1/ROM1)，AMD 中减少</a:t>
            </a:r>
            <a:endParaRPr lang="zh-CN"/>
          </a:p>
          <a:p>
            <a:pPr algn="left">
              <a:spcBef>
                <a:spcPts val="35000"/>
              </a:spcBef>
            </a:pPr>
            <a:r>
              <a:rPr lang="zh-CN" sz="1300">
                <a:solidFill>
                  <a:srgbClr val="2980B9"/>
                </a:solidFill>
              </a:rPr>
              <a:t>• </a:t>
            </a:r>
            <a:r>
              <a:rPr lang="zh-CN" sz="1500" b="1">
                <a:solidFill>
                  <a:srgbClr val="2980B9"/>
                </a:solidFill>
              </a:rPr>
              <a:t>② 小胶质细胞</a:t>
            </a:r>
            <a:r>
              <a:rPr lang="zh-CN" sz="1500">
                <a:solidFill>
                  <a:srgbClr val="2D3436"/>
                </a:solidFill>
              </a:rPr>
              <a:t> — 激活态，C3AR1↑，M2 型极化 (促血管生成)</a:t>
            </a:r>
            <a:endParaRPr lang="zh-CN"/>
          </a:p>
          <a:p>
            <a:pPr algn="left">
              <a:spcBef>
                <a:spcPts val="35000"/>
              </a:spcBef>
            </a:pPr>
            <a:r>
              <a:rPr lang="zh-CN" sz="1300">
                <a:solidFill>
                  <a:srgbClr val="2980B9"/>
                </a:solidFill>
              </a:rPr>
              <a:t>• </a:t>
            </a:r>
            <a:r>
              <a:rPr lang="zh-CN" sz="1500" b="1">
                <a:solidFill>
                  <a:srgbClr val="2980B9"/>
                </a:solidFill>
              </a:rPr>
              <a:t>③ RPE 细胞</a:t>
            </a:r>
            <a:r>
              <a:rPr lang="zh-CN" sz="1500">
                <a:solidFill>
                  <a:srgbClr val="2D3436"/>
                </a:solidFill>
              </a:rPr>
              <a:t> — 早期即出现新生血管转录组特征 (RAC1/PTN/EGFL7↑)</a:t>
            </a:r>
            <a:endParaRPr lang="zh-CN"/>
          </a:p>
          <a:p>
            <a:pPr algn="left">
              <a:spcBef>
                <a:spcPts val="35000"/>
              </a:spcBef>
            </a:pPr>
            <a:r>
              <a:rPr lang="zh-CN" sz="1300">
                <a:solidFill>
                  <a:srgbClr val="2980B9"/>
                </a:solidFill>
              </a:rPr>
              <a:t>• </a:t>
            </a:r>
            <a:r>
              <a:rPr lang="zh-CN" sz="1500" b="1">
                <a:solidFill>
                  <a:srgbClr val="2980B9"/>
                </a:solidFill>
              </a:rPr>
              <a:t>④ 光感受器</a:t>
            </a:r>
            <a:r>
              <a:rPr lang="zh-CN" sz="1500">
                <a:solidFill>
                  <a:srgbClr val="2D3436"/>
                </a:solidFill>
              </a:rPr>
              <a:t> — 视杆代偿性上调 vs 视锥功能减退 (GINS2/ABCC4↓)</a:t>
            </a:r>
            <a:endParaRPr lang="zh-CN"/>
          </a:p>
          <a:p>
            <a:pPr algn="left">
              <a:spcBef>
                <a:spcPts val="35000"/>
              </a:spcBef>
            </a:pPr>
            <a:r>
              <a:rPr lang="zh-CN" sz="1300">
                <a:solidFill>
                  <a:srgbClr val="2980B9"/>
                </a:solidFill>
              </a:rPr>
              <a:t>• </a:t>
            </a:r>
            <a:r>
              <a:rPr lang="zh-CN" sz="1500" b="1">
                <a:solidFill>
                  <a:srgbClr val="2980B9"/>
                </a:solidFill>
              </a:rPr>
              <a:t>⑤ 铁死亡 (Ferroptosis)</a:t>
            </a:r>
            <a:r>
              <a:rPr lang="zh-CN" sz="1500">
                <a:solidFill>
                  <a:srgbClr val="2D3436"/>
                </a:solidFill>
              </a:rPr>
              <a:t> — 四类神经细胞中 TF↓，铁积累，Fer-1 具保护作用</a:t>
            </a:r>
            <a:endParaRPr lang="zh-CN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bar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1" name="title"/>
          <p:cNvSpPr>
            <a:spLocks noGrp="1"/>
          </p:cNvSpPr>
          <p:nvPr/>
        </p:nvSpPr>
        <p:spPr>
          <a:xfrm>
            <a:off x="457200" y="150000"/>
            <a:ext cx="11277600" cy="600000"/>
          </a:xfrm>
          <a:prstGeom prst="rect">
            <a:avLst/>
          </a:prstGeom>
        </p:spPr>
        <p:txBody>
          <a:bodyPr wrap="square" rtlCol="0"/>
          <a:lstStyle/>
          <a:p>
            <a:pPr algn="left">
              <a:spcBef>
                <a:spcPts val="000"/>
              </a:spcBef>
            </a:pPr>
            <a:r>
              <a:rPr lang="zh-CN" sz="2800" b="1">
                <a:solidFill>
                  <a:srgbClr val="FFFFFF"/>
                </a:solidFill>
              </a:rPr>
              <a:t>Müller 胶质细胞的 PR-like 亚型 (Müller Glia)</a:t>
            </a:r>
            <a:endParaRPr lang="zh-CN"/>
          </a:p>
        </p:txBody>
      </p:sp>
      <p:sp>
        <p:nvSpPr>
          <p:cNvPr id="1" name="l"/>
          <p:cNvSpPr>
            <a:spLocks noGrp="1"/>
          </p:cNvSpPr>
          <p:nvPr/>
        </p:nvSpPr>
        <p:spPr>
          <a:xfrm>
            <a:off x="457200" y="1050000"/>
            <a:ext cx="5638800" cy="3000000"/>
          </a:xfrm>
          <a:prstGeom prst="rect">
            <a:avLst/>
          </a:prstGeom>
        </p:spPr>
        <p:txBody>
          <a:bodyPr wrap="square" rtlCol="0"/>
          <a:lstStyle/>
          <a:p>
            <a:pPr algn="left">
              <a:spcBef>
                <a:spcPts val="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 b="1">
                <a:solidFill>
                  <a:srgbClr val="2980B9"/>
                </a:solidFill>
              </a:rPr>
              <a:t>发现</a:t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>
                <a:solidFill>
                  <a:srgbClr val="2D3436"/>
                </a:solidFill>
              </a:rPr>
              <a:t>Müller 胶质中存在一个亚型</a:t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>
                <a:solidFill>
                  <a:srgbClr val="2D3436"/>
                </a:solidFill>
              </a:rPr>
              <a:t>表达光感受器标志基因：</a:t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 b="1">
                <a:solidFill>
                  <a:srgbClr val="2980B9"/>
                </a:solidFill>
              </a:rPr>
              <a:t>  RHO, GNAT1, ROM1</a:t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>
                <a:solidFill>
                  <a:srgbClr val="2D3436"/>
                </a:solidFill>
              </a:rPr>
              <a:t/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>
                <a:solidFill>
                  <a:srgbClr val="2D3436"/>
                </a:solidFill>
              </a:rPr>
              <a:t>该亚型可能具有向光感受器</a:t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>
                <a:solidFill>
                  <a:srgbClr val="2D3436"/>
                </a:solidFill>
              </a:rPr>
              <a:t>分化的再生潜力</a:t>
            </a:r>
            <a:endParaRPr lang="zh-CN"/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6096000" y="1050000"/>
            <a:ext cx="5638800" cy="4500000"/>
          </a:xfrm>
          <a:prstGeom prst="rect">
            <a:avLst/>
          </a:prstGeom>
        </p:spPr>
        <p:txBody>
          <a:bodyPr wrap="square" rtlCol="0"/>
          <a:lstStyle/>
          <a:p>
            <a:pPr algn="left">
              <a:spcBef>
                <a:spcPts val="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 b="1">
                <a:solidFill>
                  <a:srgbClr val="2980B9"/>
                </a:solidFill>
              </a:rPr>
              <a:t>AMD 中的变化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SD-AMD 组 PR-like 亚型比例显著降低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Müller 胶质中 KDR (VEGFR2) 上调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  → 新生血管相关信号激活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/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 b="1">
                <a:solidFill>
                  <a:srgbClr val="2980B9"/>
                </a:solidFill>
              </a:rPr>
              <a:t>意义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再生潜力减弱可能促进 AMD 进展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PR-like 亚型是视网膜修复的潜在细胞来源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增强该亚型功能可能是新治疗策略</a:t>
            </a:r>
            <a:endParaRPr lang="zh-CN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bar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1" name="title"/>
          <p:cNvSpPr>
            <a:spLocks noGrp="1"/>
          </p:cNvSpPr>
          <p:nvPr/>
        </p:nvSpPr>
        <p:spPr>
          <a:xfrm>
            <a:off x="457200" y="150000"/>
            <a:ext cx="11277600" cy="600000"/>
          </a:xfrm>
          <a:prstGeom prst="rect">
            <a:avLst/>
          </a:prstGeom>
        </p:spPr>
        <p:txBody>
          <a:bodyPr wrap="square" rtlCol="0"/>
          <a:lstStyle/>
          <a:p>
            <a:pPr algn="left">
              <a:spcBef>
                <a:spcPts val="000"/>
              </a:spcBef>
            </a:pPr>
            <a:r>
              <a:rPr lang="zh-CN" sz="2800" b="1">
                <a:solidFill>
                  <a:srgbClr val="FFFFFF"/>
                </a:solidFill>
              </a:rPr>
              <a:t>小胶质细胞激活与 M2 极化 (Microglia Activation)</a:t>
            </a:r>
            <a:endParaRPr lang="zh-CN"/>
          </a:p>
        </p:txBody>
      </p:sp>
      <p:sp>
        <p:nvSpPr>
          <p:cNvPr id="1" name="l"/>
          <p:cNvSpPr>
            <a:spLocks noGrp="1"/>
          </p:cNvSpPr>
          <p:nvPr/>
        </p:nvSpPr>
        <p:spPr>
          <a:xfrm>
            <a:off x="457200" y="1050000"/>
            <a:ext cx="5638800" cy="2500000"/>
          </a:xfrm>
          <a:prstGeom prst="rect">
            <a:avLst/>
          </a:prstGeom>
        </p:spPr>
        <p:txBody>
          <a:bodyPr wrap="square" rtlCol="0"/>
          <a:lstStyle/>
          <a:p>
            <a:pPr algn="left">
              <a:spcBef>
                <a:spcPts val="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 b="1">
                <a:solidFill>
                  <a:srgbClr val="2980B9"/>
                </a:solidFill>
              </a:rPr>
              <a:t>激活特征</a:t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>
                <a:solidFill>
                  <a:srgbClr val="2D3436"/>
                </a:solidFill>
              </a:rPr>
              <a:t>• 小胶质细胞在 SD-AMD 中表现激活态</a:t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 b="1">
                <a:solidFill>
                  <a:srgbClr val="2980B9"/>
                </a:solidFill>
              </a:rPr>
              <a:t>• C3AR1 表达显著上调</a:t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>
                <a:solidFill>
                  <a:srgbClr val="2D3436"/>
                </a:solidFill>
              </a:rPr>
              <a:t>  → 补体系统激活通路</a:t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>
                <a:solidFill>
                  <a:srgbClr val="2D3436"/>
                </a:solidFill>
              </a:rPr>
              <a:t>  → 神经炎症调控</a:t>
            </a:r>
            <a:endParaRPr lang="zh-CN"/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6096000" y="1050000"/>
            <a:ext cx="5638800" cy="4500000"/>
          </a:xfrm>
          <a:prstGeom prst="rect">
            <a:avLst/>
          </a:prstGeom>
        </p:spPr>
        <p:txBody>
          <a:bodyPr wrap="square" rtlCol="0"/>
          <a:lstStyle/>
          <a:p>
            <a:pPr algn="left">
              <a:spcBef>
                <a:spcPts val="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 b="1">
                <a:solidFill>
                  <a:srgbClr val="2980B9"/>
                </a:solidFill>
              </a:rPr>
              <a:t>M2 型极化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M2 标志物上调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促血管生成表型 (pro-angiogenic)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/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 b="1">
                <a:solidFill>
                  <a:srgbClr val="2980B9"/>
                </a:solidFill>
              </a:rPr>
              <a:t>病理意义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小胶质细胞参与干性 AMD 免疫病理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C3AR1 是潜在治疗靶点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补体系统在早期 AMD 即被激活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免疫调节可能延缓 AMD 进展</a:t>
            </a:r>
            <a:endParaRPr lang="zh-CN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bar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1" name="title"/>
          <p:cNvSpPr>
            <a:spLocks noGrp="1"/>
          </p:cNvSpPr>
          <p:nvPr/>
        </p:nvSpPr>
        <p:spPr>
          <a:xfrm>
            <a:off x="457200" y="150000"/>
            <a:ext cx="11277600" cy="600000"/>
          </a:xfrm>
          <a:prstGeom prst="rect">
            <a:avLst/>
          </a:prstGeom>
        </p:spPr>
        <p:txBody>
          <a:bodyPr wrap="square" rtlCol="0"/>
          <a:lstStyle/>
          <a:p>
            <a:pPr algn="left">
              <a:spcBef>
                <a:spcPts val="000"/>
              </a:spcBef>
            </a:pPr>
            <a:r>
              <a:rPr lang="zh-CN" sz="2800" b="1">
                <a:solidFill>
                  <a:srgbClr val="FFFFFF"/>
                </a:solidFill>
              </a:rPr>
              <a:t>RPE 新生血管特征 (RPE Neovascularization)</a:t>
            </a:r>
            <a:endParaRPr lang="zh-CN"/>
          </a:p>
        </p:txBody>
      </p:sp>
      <p:sp>
        <p:nvSpPr>
          <p:cNvPr id="1" name="l"/>
          <p:cNvSpPr>
            <a:spLocks noGrp="1"/>
          </p:cNvSpPr>
          <p:nvPr/>
        </p:nvSpPr>
        <p:spPr>
          <a:xfrm>
            <a:off x="457200" y="1050000"/>
            <a:ext cx="5638800" cy="5000000"/>
          </a:xfrm>
          <a:prstGeom prst="rect">
            <a:avLst/>
          </a:prstGeom>
        </p:spPr>
        <p:txBody>
          <a:bodyPr wrap="square" rtlCol="0"/>
          <a:lstStyle/>
          <a:p>
            <a:pPr algn="left">
              <a:spcBef>
                <a:spcPts val="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 b="1">
                <a:solidFill>
                  <a:srgbClr val="2980B9"/>
                </a:solidFill>
              </a:rPr>
              <a:t>上调基因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RAC1 — 内皮细胞侵袭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PTN — 多效生长因子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CLIC4 — 氯离子通道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EGFL7 — EGF 样结构域蛋白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TGFBR3 — TGF-β 受体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STRA6 — 维生素 A 转运</a:t>
            </a:r>
            <a:endParaRPr lang="zh-CN"/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6096000" y="1050000"/>
            <a:ext cx="5638800" cy="5000000"/>
          </a:xfrm>
          <a:prstGeom prst="rect">
            <a:avLst/>
          </a:prstGeom>
        </p:spPr>
        <p:txBody>
          <a:bodyPr wrap="square" rtlCol="0"/>
          <a:lstStyle/>
          <a:p>
            <a:pPr algn="left">
              <a:spcBef>
                <a:spcPts val="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 b="1">
                <a:solidFill>
                  <a:srgbClr val="2980B9"/>
                </a:solidFill>
              </a:rPr>
              <a:t>上调通路</a:t>
            </a:r>
            <a:endParaRPr lang="zh-CN"/>
          </a:p>
          <a:p>
            <a:pPr algn="left">
              <a:spcBef>
                <a:spcPts val="16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血管生成 (Angiogenesis)</a:t>
            </a:r>
            <a:endParaRPr lang="zh-CN"/>
          </a:p>
          <a:p>
            <a:pPr algn="left">
              <a:spcBef>
                <a:spcPts val="16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血管发育</a:t>
            </a:r>
            <a:endParaRPr lang="zh-CN"/>
          </a:p>
          <a:p>
            <a:pPr algn="left">
              <a:spcBef>
                <a:spcPts val="16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VEGFA-VEGFR2 信号通路</a:t>
            </a:r>
            <a:endParaRPr lang="zh-CN"/>
          </a:p>
          <a:p>
            <a:pPr algn="left">
              <a:spcBef>
                <a:spcPts val="16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凋亡相关通路</a:t>
            </a:r>
            <a:endParaRPr lang="zh-CN"/>
          </a:p>
          <a:p>
            <a:pPr algn="left">
              <a:spcBef>
                <a:spcPts val="16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/>
            </a:r>
            <a:endParaRPr lang="zh-CN"/>
          </a:p>
          <a:p>
            <a:pPr algn="left">
              <a:spcBef>
                <a:spcPts val="16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 b="1">
                <a:solidFill>
                  <a:srgbClr val="2980B9"/>
                </a:solidFill>
              </a:rPr>
              <a:t>下调通路</a:t>
            </a:r>
            <a:endParaRPr lang="zh-CN"/>
          </a:p>
          <a:p>
            <a:pPr algn="left">
              <a:spcBef>
                <a:spcPts val="16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脂质储存与定位</a:t>
            </a:r>
            <a:endParaRPr lang="zh-CN"/>
          </a:p>
          <a:p>
            <a:pPr algn="left">
              <a:spcBef>
                <a:spcPts val="16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离子/阳离子稳态</a:t>
            </a:r>
            <a:endParaRPr lang="zh-CN"/>
          </a:p>
          <a:p>
            <a:pPr algn="left">
              <a:spcBef>
                <a:spcPts val="16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眼发育相关通路</a:t>
            </a:r>
            <a:endParaRPr lang="zh-CN"/>
          </a:p>
        </p:txBody>
      </p:sp>
      <p:sp>
        <p:nvSpPr>
          <p:cNvPr id="1" name="hl"/>
          <p:cNvSpPr>
            <a:spLocks noGrp="1"/>
          </p:cNvSpPr>
          <p:nvPr/>
        </p:nvSpPr>
        <p:spPr>
          <a:xfrm>
            <a:off x="457200" y="5800000"/>
            <a:ext cx="11277600" cy="800000"/>
          </a:xfrm>
          <a:prstGeom prst="rect">
            <a:avLst/>
          </a:prstGeom>
        </p:spPr>
        <p:txBody>
          <a:bodyPr wrap="square" rtlCol="0"/>
          <a:lstStyle/>
          <a:p>
            <a:pPr algn="center">
              <a:spcBef>
                <a:spcPts val="000"/>
              </a:spcBef>
            </a:pPr>
            <a:r>
              <a:rPr lang="zh-CN" sz="1300" b="1">
                <a:solidFill>
                  <a:srgbClr val="C0392B"/>
                </a:solidFill>
              </a:rPr>
              <a:t>关键发现：即使早期干性 AMD，RPE 已表现出新生血管转录组改变，可能决定向湿性 AMD 转化</a:t>
            </a:r>
            <a:endParaRPr lang="zh-CN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bar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1" name="title"/>
          <p:cNvSpPr>
            <a:spLocks noGrp="1"/>
          </p:cNvSpPr>
          <p:nvPr/>
        </p:nvSpPr>
        <p:spPr>
          <a:xfrm>
            <a:off x="457200" y="150000"/>
            <a:ext cx="11277600" cy="600000"/>
          </a:xfrm>
          <a:prstGeom prst="rect">
            <a:avLst/>
          </a:prstGeom>
        </p:spPr>
        <p:txBody>
          <a:bodyPr wrap="square" rtlCol="0"/>
          <a:lstStyle/>
          <a:p>
            <a:pPr algn="left">
              <a:spcBef>
                <a:spcPts val="000"/>
              </a:spcBef>
            </a:pPr>
            <a:r>
              <a:rPr lang="zh-CN" sz="2800" b="1">
                <a:solidFill>
                  <a:srgbClr val="FFFFFF"/>
                </a:solidFill>
              </a:rPr>
              <a:t>铁死亡在 AMD 中的作用 (Ferroptosis)</a:t>
            </a:r>
            <a:endParaRPr lang="zh-CN"/>
          </a:p>
        </p:txBody>
      </p:sp>
      <p:sp>
        <p:nvSpPr>
          <p:cNvPr id="1" name="l"/>
          <p:cNvSpPr>
            <a:spLocks noGrp="1"/>
          </p:cNvSpPr>
          <p:nvPr/>
        </p:nvSpPr>
        <p:spPr>
          <a:xfrm>
            <a:off x="457200" y="1050000"/>
            <a:ext cx="5638800" cy="3000000"/>
          </a:xfrm>
          <a:prstGeom prst="rect">
            <a:avLst/>
          </a:prstGeom>
        </p:spPr>
        <p:txBody>
          <a:bodyPr wrap="square" rtlCol="0"/>
          <a:lstStyle/>
          <a:p>
            <a:pPr algn="left">
              <a:spcBef>
                <a:spcPts val="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 b="1">
                <a:solidFill>
                  <a:srgbClr val="2980B9"/>
                </a:solidFill>
              </a:rPr>
              <a:t>四类神经细胞共同改变</a:t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>
                <a:solidFill>
                  <a:srgbClr val="2D3436"/>
                </a:solidFill>
              </a:rPr>
              <a:t>(RGCs, HCs, ACs, BCs)</a:t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>
                <a:solidFill>
                  <a:srgbClr val="2D3436"/>
                </a:solidFill>
              </a:rPr>
              <a:t/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 b="1">
                <a:solidFill>
                  <a:srgbClr val="2980B9"/>
                </a:solidFill>
              </a:rPr>
              <a:t>共同上调:</a:t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>
                <a:solidFill>
                  <a:srgbClr val="2D3436"/>
                </a:solidFill>
              </a:rPr>
              <a:t>  RBM3, CIRBP (应激反应)</a:t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>
                <a:solidFill>
                  <a:srgbClr val="2D3436"/>
                </a:solidFill>
              </a:rPr>
              <a:t/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 b="1">
                <a:solidFill>
                  <a:srgbClr val="2980B9"/>
                </a:solidFill>
              </a:rPr>
              <a:t>共同下调:</a:t>
            </a:r>
            <a:endParaRPr lang="zh-CN"/>
          </a:p>
          <a:p>
            <a:pPr algn="left">
              <a:spcBef>
                <a:spcPts val="20000"/>
              </a:spcBef>
            </a:pPr>
            <a:r>
              <a:rPr lang="zh-CN" sz="1200">
                <a:solidFill>
                  <a:srgbClr val="2980B9"/>
                </a:solidFill>
              </a:rPr>
              <a:t>• </a:t>
            </a:r>
            <a:r>
              <a:rPr lang="zh-CN" sz="1400">
                <a:solidFill>
                  <a:srgbClr val="2D3436"/>
                </a:solidFill>
              </a:rPr>
              <a:t>  NCDN, TF (转铁蛋白), APLP1</a:t>
            </a:r>
            <a:endParaRPr lang="zh-CN"/>
          </a:p>
        </p:txBody>
      </p:sp>
      <p:sp>
        <p:nvSpPr>
          <p:cNvPr id="1" name="r"/>
          <p:cNvSpPr>
            <a:spLocks noGrp="1"/>
          </p:cNvSpPr>
          <p:nvPr/>
        </p:nvSpPr>
        <p:spPr>
          <a:xfrm>
            <a:off x="6096000" y="1050000"/>
            <a:ext cx="5638800" cy="4500000"/>
          </a:xfrm>
          <a:prstGeom prst="rect">
            <a:avLst/>
          </a:prstGeom>
        </p:spPr>
        <p:txBody>
          <a:bodyPr wrap="square" rtlCol="0"/>
          <a:lstStyle/>
          <a:p>
            <a:pPr algn="left">
              <a:spcBef>
                <a:spcPts val="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 b="1">
                <a:solidFill>
                  <a:srgbClr val="2980B9"/>
                </a:solidFill>
              </a:rPr>
              <a:t>机制通路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TF (转铁蛋白) ↓ 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  → 铁代谢紊乱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  → 视网膜铁积累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  → 脂质过氧化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  → 铁死亡 (Ferroptosis)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/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 b="1">
                <a:solidFill>
                  <a:srgbClr val="2980B9"/>
                </a:solidFill>
              </a:rPr>
              <a:t>小鼠模型验证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NaIO₃ 诱导干性 AMD</a:t>
            </a:r>
            <a:endParaRPr lang="zh-CN"/>
          </a:p>
          <a:p>
            <a:pPr algn="left">
              <a:spcBef>
                <a:spcPts val="18000"/>
              </a:spcBef>
            </a:pPr>
            <a:r>
              <a:rPr lang="zh-CN" sz="1100">
                <a:solidFill>
                  <a:srgbClr val="2980B9"/>
                </a:solidFill>
              </a:rPr>
              <a:t>• </a:t>
            </a:r>
            <a:r>
              <a:rPr lang="zh-CN" sz="1300">
                <a:solidFill>
                  <a:srgbClr val="2D3436"/>
                </a:solidFill>
              </a:rPr>
              <a:t>• Fer-1 治疗显示保护效果</a:t>
            </a:r>
            <a:endParaRPr lang="zh-CN"/>
          </a:p>
        </p:txBody>
      </p:sp>
    </p:spTree>
  </p:cSld>
</p:sld>
</file>

<file path=ppt/slides/slide11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12192000" cy="6858000"/><a:chOff x="0" y="0"/><a:chExt cx="12192000" cy="6858000"/></a:xfrm></p:grpSpPr>
      <p:sp><p:nvSpPr><p:cNvPr id="1" name="bar"/><p:cNvSpPr><a:spLocks noGrp="1"/></p:cNvSpPr><p:nvPr/></p:nvSpPr><p:spPr><a:xfrm><a:off x="0" y="0"/><a:ext cx="12192000" cy="900000"/></a:xfrm><a:prstGeom prst="rect"><a:avLst/></a:prstGeom><a:solidFill><a:srgbClr val="1F4E79"/></a:solidFill></p:spPr></p:sp>
      <p:sp><p:nvSpPr><p:cNvPr id="1" name="title"/><p:cNvSpPr><a:spLocks noGrp="1"/></p:cNvSpPr><p:nvPr/></p:nvSpPr><p:spPr><a:xfrm><a:off x="457200" y="150000"/><a:ext cx="11277600" cy="600000"/></a:xfrm><a:prstGeom prst="rect"><a:avLst/></a:prstGeom></p:spPr><p:txBody><a:bodyPr wrap="square" rtlCol="0"/><a:lstStyle/><a:p><a:pPr algn="left"><a:spcBef><a:spcPts val="000"/></a:spcBef></a:pPr><a:r><a:rPr lang="zh-CN" sz="2800" b="1"><a:solidFill><a:srgbClr val="FFFFFF"/></a:solidFill></a:rPr><a:t>关键基因与通路汇总 (Key Genes & Pathways)</a:t></a:r><a:endParaRPr lang="zh-CN"/></a:p></p:txBody></p:sp>
      <p:sp><p:nvSpPr><p:cNvPr id="1" name="tbl"/><p:cNvSpPr><a:spLocks noGrp="1"/></p:cNvSpPr><p:nvPr/></p:nvSpPr><p:spPr><a:xfrm><a:off x="457200" y="1000000"/><a:ext cx="11277600" cy="5500000"/></a:xfrm><a:prstGeom prst="rect"><a:avLst/></a:prstGeom></p:spPr><p:txBody><a:bodyPr wrap="square" rtlCol="0"/><a:lstStyle/><a:p><a:pPr algn="left"><a:spcBef><a:spcPts val="000"/></a:spcBef></a:pPr><a:r><a:rPr lang="zh-CN" sz="1000"><a:solidFill><a:srgbClr val="2980B9"/></a:solidFill></a:rPr><a:t>• </a:t></a:r><a:r><a:rPr lang="zh-CN" sz="1200" b="1"><a:solidFill><a:srgbClr val="2980B9"/></a:solidFill></a:rPr><a:t>Müller 胶质标记</a:t></a:r><a:r><a:rPr lang="zh-CN" sz="1200"><a:solidFill><a:srgbClr val="2D3436"/></a:solidFill></a:rPr><a:t>    RHO, GNAT1, ROM1  |  PR-like 亚型表达 |  光感受器特征</a:t></a:r><a:endParaRPr lang="zh-CN"/></a:p><a:p><a:pPr algn="left"><a:spcBef><a:spcPts val="20000"/></a:spcBef></a:pPr><a:r><a:rPr lang="zh-CN" sz="1000"><a:solidFill><a:srgbClr val="2980B9"/></a:solidFill></a:rPr><a:t>• </a:t></a:r><a:r><a:rPr lang="zh-CN" sz="1200" b="1"><a:solidFill><a:srgbClr val="2980B9"/></a:solidFill></a:rPr><a:t>Müller 胶质 AMD</a:t></a:r><a:r><a:rPr lang="zh-CN" sz="1200"><a:solidFill><a:srgbClr val="2D3436"/></a:solidFill></a:rPr><a:t>    KDR (VEGFR2) ↑  |  新生血管信号</a:t></a:r><a:endParaRPr lang="zh-CN"/></a:p><a:p><a:pPr algn="left"><a:spcBef><a:spcPts val="20000"/></a:spcBef></a:pPr><a:r><a:rPr lang="zh-CN" sz="1000"><a:solidFill><a:srgbClr val="2980B9"/></a:solidFill></a:rPr><a:t>• </a:t></a:r><a:r><a:rPr lang="zh-CN" sz="1200" b="1"><a:solidFill><a:srgbClr val="2980B9"/></a:solidFill></a:rPr><a:t>小胶质细胞激活</a:t></a:r><a:r><a:rPr lang="zh-CN" sz="1200"><a:solidFill><a:srgbClr val="2D3436"/></a:solidFill></a:rPr><a:t>    C3AR1 ↑  |  补体系统激活</a:t></a:r><a:endParaRPr lang="zh-CN"/></a:p><a:p><a:pPr algn="left"><a:spcBef><a:spcPts val="20000"/></a:spcBef></a:pPr><a:r><a:rPr lang="zh-CN" sz="1000"><a:solidFill><a:srgbClr val="2980B9"/></a:solidFill></a:rPr><a:t>• </a:t></a:r><a:r><a:rPr lang="zh-CN" sz="1200" b="1"><a:solidFill><a:srgbClr val="2980B9"/></a:solidFill></a:rPr><a:t>RPE 新生血管</a:t></a:r><a:r><a:rPr lang="zh-CN" sz="1200"><a:solidFill><a:srgbClr val="2D3436"/></a:solidFill></a:rPr><a:t>      RAC1, PTN, CLIC4, EGFL7 ↑  |  血管生成通路</a:t></a:r><a:endParaRPr lang="zh-CN"/></a:p><a:p><a:pPr algn="left"><a:spcBef><a:spcPts val="20000"/></a:spcBef></a:pPr><a:r><a:rPr lang="zh-CN" sz="1000"><a:solidFill><a:srgbClr val="2980B9"/></a:solidFill></a:rPr><a:t>• </a:t></a:r><a:r><a:rPr lang="zh-CN" sz="1200" b="1"><a:solidFill><a:srgbClr val="2980B9"/></a:solidFill></a:rPr><a:t>RPE 代谢</a:t></a:r><a:r><a:rPr lang="zh-CN" sz="1200"><a:solidFill><a:srgbClr val="2D3436"/></a:solidFill></a:rPr><a:t>           STRA6 ↑  |  维生素 A 转运紊乱</a:t></a:r><a:endParaRPr lang="zh-CN"/></a:p><a:p><a:pPr algn="left"><a:spcBef><a:spcPts val="20000"/></a:spcBef></a:pPr><a:r><a:rPr lang="zh-CN" sz="1000"><a:solidFill><a:srgbClr val="2980B9"/></a:solidFill></a:rPr><a:t>• </a:t></a:r><a:r><a:rPr lang="zh-CN" sz="1200" b="1"><a:solidFill><a:srgbClr val="2980B9"/></a:solidFill></a:rPr><a:t>视锥功能障碍</a:t></a:r><a:r><a:rPr lang="zh-CN" sz="1200"><a:solidFill><a:srgbClr val="2D3436"/></a:solidFill></a:rPr><a:t>        GINS2, ABCC4 ↓  |  细胞周期/cAMP 异常</a:t></a:r><a:endParaRPr lang="zh-CN"/></a:p><a:p><a:pPr algn="left"><a:spcBef><a:spcPts val="20000"/></a:spcBef></a:pPr><a:r><a:rPr lang="zh-CN" sz="1000"><a:solidFill><a:srgbClr val="2980B9"/></a:solidFill></a:rPr><a:t>• </a:t></a:r><a:r><a:rPr lang="zh-CN" sz="1200" b="1"><a:solidFill><a:srgbClr val="2980B9"/></a:solidFill></a:rPr><a:t>铁死亡(上调)</a:t></a:r><a:r><a:rPr lang="zh-CN" sz="1200"><a:solidFill><a:srgbClr val="2D3436"/></a:solidFill></a:rPr><a:t>        RBM3, CIRBP ↑  |  应激/冷休克反应</a:t></a:r><a:endParaRPr lang="zh-CN"/></a:p><a:p><a:pPr algn="left"><a:spcBef><a:spcPts val="20000"/></a:spcBef></a:pPr><a:r><a:rPr lang="zh-CN" sz="1000"><a:solidFill><a:srgbClr val="2980B9"/></a:solidFill></a:rPr><a:t>• </a:t></a:r><a:r><a:rPr lang="zh-CN" sz="1200" b="1"><a:solidFill><a:srgbClr val="2980B9"/></a:solidFill></a:rPr><a:t>铁死亡(下调)</a:t></a:r><a:r><a:rPr lang="zh-CN" sz="1200"><a:solidFill><a:srgbClr val="2D3436"/></a:solidFill></a:rPr><a:t>        NCDN, TF, APLP1 ↓  |  铁代谢紊乱 → 铁死亡</a:t></a:r><a:endParaRPr lang="zh-CN"/></a:p></p:txBody></p:sp>
    </p:spTree>
  </p:cSld>
</p:sld>
</file>

<file path=ppt/slides/slide12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12192000" cy="6858000"/><a:chOff x="0" y="0"/><a:chExt cx="12192000" cy="6858000"/></a:xfrm></p:grpSpPr>
      <p:sp><p:nvSpPr><p:cNvPr id="1" name="bg"/><p:cNvSpPr><a:spLocks noGrp="1"/></p:cNvSpPr><p:nvPr/></p:nvSpPr><p:spPr><a:xfrm><a:off x="0" y="0"/><a:ext cx="12192000" cy="6858000"/></a:xfrm><a:prstGeom prst="rect"><a:avLst/></a:prstGeom><a:solidFill><a:srgbClr val="1F4E79"/></a:solidFill></p:spPr></p:sp>
      <p:sp><p:nvSpPr><p:cNvPr id="1" name="conclTitle"/><p:cNvSpPr><a:spLocks noGrp="1"/></p:cNvSpPr><p:nvPr/></p:nvSpPr><p:spPr><a:xfrm><a:off x="457200" y="200000"/><a:ext cx="11277600" cy="700000"/></a:xfrm><a:prstGeom prst="rect"><a:avLst/></a:prstGeom></p:spPr><p:txBody><a:bodyPr wrap="square" rtlCol="0"/><a:lstStyle/><a:p><a:pPr algn="center"><a:spcBef><a:spcPts val="000"/></a:spcBef></a:pPr><a:r><a:rPr lang="zh-CN" sz="3000" b="1"><a:solidFill><a:srgbClr val="FFFFFF"/></a:solidFill></a:rPr><a:t>结论与展望 (Conclusions & Perspectives)</a:t></a:r><a:endParaRPr lang="zh-CN"/></a:p></p:txBody></p:sp>
      <p:sp><p:nvSpPr><p:cNvPr id="1" name="concl"/><p:cNvSpPr><a:spLocks noGrp="1"/></p:cNvSpPr><p:nvPr/></p:nvSpPr><p:spPr><a:xfrm><a:off x="457200" y="1100000"/><a:ext cx="11277600" cy="4000000"/></a:xfrm><a:prstGeom prst="rect"><a:avLst/></a:prstGeom></p:spPr><p:txBody><a:bodyPr wrap="square" rtlCol="0"/><a:lstStyle/><a:p><a:pPr algn="left"><a:spcBef><a:spcPts val="000"/></a:spcBef></a:pPr><a:r><a:rPr lang="zh-CN" sz="1400"><a:solidFill><a:srgbClr val="2980B9"/></a:solidFill></a:rPr><a:t>• </a:t></a:r><a:r><a:rPr lang="zh-CN" sz="1600" b="1"><a:solidFill><a:srgbClr val="2980B9"/></a:solidFill></a:rPr><a:t>1.</a:t></a:r><a:r><a:rPr lang="zh-CN" sz="1600"><a:solidFill><a:srgbClr val="B0C4DE"/></a:solidFill></a:rPr><a:t>  首次构建 NHP 干性 AMD 单细胞转录组图谱</a:t></a:r><a:endParaRPr lang="zh-CN"/></a:p><a:p><a:pPr algn="left"><a:spcBef><a:spcPts val="30000"/></a:spcBef></a:pPr><a:r><a:rPr lang="zh-CN" sz="1400"><a:solidFill><a:srgbClr val="2980B9"/></a:solidFill></a:rPr><a:t>• </a:t></a:r><a:r><a:rPr lang="zh-CN" sz="1600" b="1"><a:solidFill><a:srgbClr val="2980B9"/></a:solidFill></a:rPr><a:t>2.</a:t></a:r><a:r><a:rPr lang="zh-CN" sz="1600"><a:solidFill><a:srgbClr val="B0C4DE"/></a:solidFill></a:rPr><a:t>  Müller 胶质 PR-like 亚型是视网膜再生的潜在细胞来源</a:t></a:r><a:endParaRPr lang="zh-CN"/></a:p><a:p><a:pPr algn="left"><a:spcBef><a:spcPts val="30000"/></a:spcBef></a:pPr><a:r><a:rPr lang="zh-CN" sz="1400"><a:solidFill><a:srgbClr val="2980B9"/></a:solidFill></a:rPr><a:t>• </a:t></a:r><a:r><a:rPr lang="zh-CN" sz="1600" b="1"><a:solidFill><a:srgbClr val="2980B9"/></a:solidFill></a:rPr><a:t>3.</a:t></a:r><a:r><a:rPr lang="zh-CN" sz="1600"><a:solidFill><a:srgbClr val="B0C4DE"/></a:solidFill></a:rPr><a:t>  小胶质 M2 极化和 C3AR1 介导的补体激活参与早期 AMD</a:t></a:r><a:endParaRPr lang="zh-CN"/></a:p><a:p><a:pPr algn="left"><a:spcBef><a:spcPts val="30000"/></a:spcBef></a:pPr><a:r><a:rPr lang="zh-CN" sz="1400"><a:solidFill><a:srgbClr val="2980B9"/></a:solidFill></a:rPr><a:t>• </a:t></a:r><a:r><a:rPr lang="zh-CN" sz="1600" b="1"><a:solidFill><a:srgbClr val="2980B9"/></a:solidFill></a:rPr><a:t>4.</a:t></a:r><a:r><a:rPr lang="zh-CN" sz="1600"><a:solidFill><a:srgbClr val="B0C4DE"/></a:solidFill></a:rPr><a:t>  RPE 在干性 AMD 早期即表现新生血管转录组特征</a:t></a:r><a:endParaRPr lang="zh-CN"/></a:p><a:p><a:pPr algn="left"><a:spcBef><a:spcPts val="30000"/></a:spcBef></a:pPr><a:r><a:rPr lang="zh-CN" sz="1400"><a:solidFill><a:srgbClr val="2980B9"/></a:solidFill></a:rPr><a:t>• </a:t></a:r><a:r><a:rPr lang="zh-CN" sz="1600" b="1"><a:solidFill><a:srgbClr val="2980B9"/></a:solidFill></a:rPr><a:t>5.</a:t></a:r><a:r><a:rPr lang="zh-CN" sz="1600"><a:solidFill><a:srgbClr val="B0C4DE"/></a:solidFill></a:rPr><a:t>  铁死亡通路激活是干性 AMD 的共同病理特征</a:t></a:r><a:endParaRPr lang="zh-CN"/></a:p></p:txBody></p:sp>
      <p:sp><p:nvSpPr><p:cNvPr id="1" name="thanks"/><p:cNvSpPr><a:spLocks noGrp="1"/></p:cNvSpPr><p:nvPr/></p:nvSpPr><p:spPr><a:xfrm><a:off x="457200" y="5400000"/><a:ext cx="11277600" cy="1000000"/></a:xfrm><a:prstGeom prst="rect"><a:avLst/></a:prstGeom></p:spPr><p:txBody><a:bodyPr wrap="square" rtlCol="0"/><a:lstStyle/><a:p><a:pPr algn="center"><a:spcBef><a:spcPts val="000"/></a:spcBef></a:pPr><a:r><a:rPr lang="zh-CN" sz="2400" b="1"><a:solidFill><a:srgbClr val="FFFFFF"/></a:solidFill></a:rPr><a:t>Thanks for your attention!</a:t></a:r><a:endParaRPr lang="zh-CN"/></a:p><a:p><a:pPr algn="center"><a:spcBef><a:spcPts val="15000"/></a:spcBef></a:pPr><a:r><a:rPr lang="zh-CN" sz="1400"><a:solidFill><a:srgbClr val="B0C4DE"/></a:solidFill></a:rPr><a:t>DOI: 10.1016/j.fmre.2023.02.028</a:t></a:r><a:endParaRPr lang="zh-CN"/></a:p></p:txBody>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1F4E79"/>
      </a:dk2>
      <a:lt2>
        <a:srgbClr val="F5F6FA"/>
      </a:lt2>
      <a:accent1>
        <a:srgbClr val="2980B9"/>
      </a:accent1>
      <a:accent2>
        <a:srgbClr val="27AE60"/>
      </a:accent2>
      <a:accent3>
        <a:srgbClr val="E74C3C"/>
      </a:accent3>
      <a:accent4>
        <a:srgbClr val="8E44AD"/>
      </a:accent4>
      <a:accent5>
        <a:srgbClr val="F39C12"/>
      </a:accent5>
      <a:accent6>
        <a:srgbClr val="1ABC9C"/>
      </a:accent6>
      <a:hlink>
        <a:srgbClr val="2980B9"/>
      </a:hlink>
      <a:folHlink>
        <a:srgbClr val="8E44AD"/>
      </a:folHlink>
    </a:clrScheme>
    <a:fontScheme name="Default">
      <a:majorFont>
        <a:latin typeface="Calibri"/>
        <a:ea typeface="Microsoft YaHei"/>
      </a:majorFont>
      <a:minorFont>
        <a:latin typeface="Calibri"/>
        <a:ea typeface="Microsoft YaHei"/>
      </a:minorFont>
    </a:fontScheme>
    <a:fmtScheme name="Default">
      <a:fillStyleLst>
        <a:solidFill>
          <a:srgbClr val="FFFFFF"/>
        </a:solidFill>
      </a:fillStyleLst>
      <a:lnStyleLst>
        <a:ln w="12700">
          <a:solidFill>
            <a:srgbClr val="000000"/>
          </a:solidFill>
        </a:ln>
      </a:lnStyleLst>
      <a:effectStyleLst>
        <a:effectStyle>
          <a:effectLst/>
        </a:effectStyle>
      </a:effectStyleLst>
      <a:bgFillStyleLst>
        <a:solidFill>
          <a:srgbClr val="FFFFFF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 PPTX Generator</Application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Single-cell transcriptome atlas of spontaneous dry AMD in macaques</dc:title>
  <dc:creator>Wenru Su et al.</dc:creator>
</cp:coreProperties>
</file>